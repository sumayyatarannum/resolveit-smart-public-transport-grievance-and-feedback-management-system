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Times New Roman Bold" panose="02020803070505020304" pitchFamily="18" charset="0"/>
      <p:bold r:id="rId14"/>
    </p:embeddedFont>
    <p:embeddedFont>
      <p:font typeface="Calibri" panose="020F050202020403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45" d="100"/>
          <a:sy n="45" d="100"/>
        </p:scale>
        <p:origin x="264" y="-3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14-Feb-26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14-Feb-26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14-Feb-26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14-Feb-26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14-Feb-26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14-Feb-26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14-Feb-26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14-Feb-26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14-Feb-26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14-Feb-26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14-Feb-26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14-Feb-26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8.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8.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5400000" flipH="1" flipV="1">
            <a:off x="13890343" y="5516388"/>
            <a:ext cx="4840370" cy="6758253"/>
          </a:xfrm>
          <a:custGeom>
            <a:avLst/>
            <a:gdLst/>
            <a:ahLst/>
            <a:cxnLst/>
            <a:rect l="l" t="t" r="r" b="b"/>
            <a:pathLst>
              <a:path w="4840370" h="6758253">
                <a:moveTo>
                  <a:pt x="4840371" y="6758253"/>
                </a:moveTo>
                <a:lnTo>
                  <a:pt x="0" y="6758253"/>
                </a:lnTo>
                <a:lnTo>
                  <a:pt x="0" y="0"/>
                </a:lnTo>
                <a:lnTo>
                  <a:pt x="4840371" y="0"/>
                </a:lnTo>
                <a:lnTo>
                  <a:pt x="4840371" y="6758253"/>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rot="-212327" flipH="1">
            <a:off x="-1633813"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flipH="1">
            <a:off x="-2020970"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6" name="Freeform 6"/>
          <p:cNvSpPr/>
          <p:nvPr/>
        </p:nvSpPr>
        <p:spPr>
          <a:xfrm rot="-176744" flipV="1">
            <a:off x="12281842" y="-3234705"/>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Freeform 7"/>
          <p:cNvSpPr/>
          <p:nvPr/>
        </p:nvSpPr>
        <p:spPr>
          <a:xfrm flipV="1">
            <a:off x="12348517" y="-3496396"/>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8" name="TextBox 8"/>
          <p:cNvSpPr txBox="1"/>
          <p:nvPr/>
        </p:nvSpPr>
        <p:spPr>
          <a:xfrm>
            <a:off x="1147445" y="2651760"/>
            <a:ext cx="16101695" cy="2209800"/>
          </a:xfrm>
          <a:prstGeom prst="rect">
            <a:avLst/>
          </a:prstGeom>
        </p:spPr>
        <p:txBody>
          <a:bodyPr wrap="square" lIns="0" tIns="0" rIns="0" bIns="0" rtlCol="0" anchor="t">
            <a:noAutofit/>
          </a:bodyPr>
          <a:lstStyle/>
          <a:p>
            <a:pPr algn="ctr">
              <a:lnSpc>
                <a:spcPts val="8410"/>
              </a:lnSpc>
            </a:pPr>
            <a:r>
              <a:rPr lang="en-US" altLang="en-US" sz="6005" b="1" dirty="0" err="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ResolveIT</a:t>
            </a:r>
            <a:r>
              <a:rPr lang="en-US" altLang="en-US" sz="6005" b="1" dirty="0">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 Smart Grievance &amp; Feedback Management System - Public Transport Services</a:t>
            </a:r>
          </a:p>
          <a:p>
            <a:pPr algn="ctr">
              <a:lnSpc>
                <a:spcPts val="8410"/>
              </a:lnSpc>
            </a:pPr>
            <a:endParaRPr lang="en-US" altLang="en-US" sz="6005" b="1" dirty="0">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8410"/>
              </a:lnSpc>
            </a:pPr>
            <a:endParaRPr lang="en-US" altLang="en-US" sz="6005" b="1" dirty="0">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ct val="100000"/>
              </a:lnSpc>
            </a:pPr>
            <a:r>
              <a:rPr lang="en-US" altLang="en-US" sz="6005" b="1" dirty="0">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altLang="en-US" sz="3600" b="1" dirty="0">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Presented by  </a:t>
            </a:r>
          </a:p>
          <a:p>
            <a:pPr algn="ctr">
              <a:lnSpc>
                <a:spcPct val="100000"/>
              </a:lnSpc>
            </a:pPr>
            <a:r>
              <a:rPr lang="en-US" altLang="en-US" sz="3600" b="1" dirty="0">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                                                                                                          Sumayya </a:t>
            </a:r>
            <a:r>
              <a:rPr lang="en-US" altLang="en-US" sz="3600" b="1" dirty="0" err="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Tarannum</a:t>
            </a:r>
            <a:r>
              <a:rPr lang="en-US" altLang="en-US" sz="3600" b="1" dirty="0">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altLang="en-US" sz="6005" b="1" dirty="0">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8410"/>
              </a:lnSpc>
            </a:pPr>
            <a:r>
              <a:rPr lang="en-US" sz="6005" b="1" dirty="0">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1676400" y="2095500"/>
            <a:ext cx="15815310" cy="4605655"/>
          </a:xfrm>
          <a:prstGeom prst="rect">
            <a:avLst/>
          </a:prstGeom>
        </p:spPr>
        <p:txBody>
          <a:bodyPr lIns="0" tIns="0" rIns="0" bIns="0" rtlCol="0" anchor="t">
            <a:noAutofit/>
          </a:bodyPr>
          <a:lstStyle/>
          <a:p>
            <a:pPr algn="just">
              <a:lnSpc>
                <a:spcPct val="150000"/>
              </a:lnSpc>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ResolveIT is a digital grievance and feedback management system for public transport services. It allows passengers to register complaints, track resolution status, and provide feedback. The system improves transparency, reduces manual processes, and enhances service quality through structured backend architecture and database management.The system allows passengers to register grievances, track complaint status, and provide feedback regarding transport services</a:t>
            </a:r>
            <a:r>
              <a:rPr lang="en-US" altLang="en-US" sz="32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sz="3200" dirty="0">
                <a:latin typeface="Times New Roman" panose="02020603050405020304" pitchFamily="18" charset="0"/>
                <a:cs typeface="Times New Roman" panose="02020603050405020304" pitchFamily="18" charset="0"/>
              </a:rPr>
              <a:t> </a:t>
            </a:r>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Freeform 4"/>
          <p:cNvSpPr/>
          <p:nvPr/>
        </p:nvSpPr>
        <p:spPr>
          <a:xfrm rot="-574333">
            <a:off x="-81146"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TextBox 5"/>
          <p:cNvSpPr txBox="1"/>
          <p:nvPr/>
        </p:nvSpPr>
        <p:spPr>
          <a:xfrm>
            <a:off x="16214256" y="9019603"/>
            <a:ext cx="1271574" cy="803430"/>
          </a:xfrm>
          <a:prstGeom prst="rect">
            <a:avLst/>
          </a:prstGeom>
        </p:spPr>
        <p:txBody>
          <a:bodyPr lIns="0" tIns="0" rIns="0" bIns="0" rtlCol="0" anchor="t">
            <a:spAutoFit/>
          </a:bodyPr>
          <a:lstStyle/>
          <a:p>
            <a:pPr algn="ctr">
              <a:lnSpc>
                <a:spcPts val="6640"/>
              </a:lnSpc>
              <a:spcBef>
                <a:spcPct val="0"/>
              </a:spcBef>
            </a:pPr>
            <a:r>
              <a:rPr lang="en-US" sz="4745" b="1">
                <a:solidFill>
                  <a:srgbClr val="545454"/>
                </a:solidFill>
                <a:latin typeface="Garet Bold"/>
                <a:ea typeface="Garet Bold"/>
                <a:cs typeface="Garet Bold"/>
                <a:sym typeface="Garet Bold"/>
              </a:rPr>
              <a:t>01</a:t>
            </a:r>
          </a:p>
        </p:txBody>
      </p:sp>
      <p:sp>
        <p:nvSpPr>
          <p:cNvPr id="6" name="TextBox 6"/>
          <p:cNvSpPr txBox="1"/>
          <p:nvPr/>
        </p:nvSpPr>
        <p:spPr>
          <a:xfrm>
            <a:off x="838185" y="952766"/>
            <a:ext cx="16697975" cy="713740"/>
          </a:xfrm>
          <a:prstGeom prst="rect">
            <a:avLst/>
          </a:prstGeom>
        </p:spPr>
        <p:txBody>
          <a:bodyPr lIns="0" tIns="0" rIns="0" bIns="0" rtlCol="0" anchor="t">
            <a:spAutoFit/>
          </a:bodyPr>
          <a:lstStyle/>
          <a:p>
            <a:pPr algn="ctr">
              <a:lnSpc>
                <a:spcPts val="5570"/>
              </a:lnSpc>
              <a:spcBef>
                <a:spcPct val="0"/>
              </a:spcBef>
            </a:pPr>
            <a:r>
              <a:rPr lang="en-US" sz="48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Abstract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16214256" y="9019603"/>
            <a:ext cx="1271574" cy="803430"/>
          </a:xfrm>
          <a:prstGeom prst="rect">
            <a:avLst/>
          </a:prstGeom>
        </p:spPr>
        <p:txBody>
          <a:bodyPr lIns="0" tIns="0" rIns="0" bIns="0" rtlCol="0" anchor="t">
            <a:spAutoFit/>
          </a:bodyPr>
          <a:lstStyle/>
          <a:p>
            <a:pPr algn="ctr">
              <a:lnSpc>
                <a:spcPts val="6640"/>
              </a:lnSpc>
              <a:spcBef>
                <a:spcPct val="0"/>
              </a:spcBef>
            </a:pPr>
            <a:r>
              <a:rPr lang="en-US" sz="4745" b="1">
                <a:solidFill>
                  <a:srgbClr val="545454"/>
                </a:solidFill>
                <a:latin typeface="Garet Bold"/>
                <a:ea typeface="Garet Bold"/>
                <a:cs typeface="Garet Bold"/>
                <a:sym typeface="Garet Bold"/>
              </a:rPr>
              <a:t>02</a:t>
            </a:r>
          </a:p>
        </p:txBody>
      </p:sp>
      <p:sp>
        <p:nvSpPr>
          <p:cNvPr id="4" name="TextBox 4"/>
          <p:cNvSpPr txBox="1"/>
          <p:nvPr/>
        </p:nvSpPr>
        <p:spPr>
          <a:xfrm>
            <a:off x="1771650" y="1167529"/>
            <a:ext cx="4572635" cy="661271"/>
          </a:xfrm>
          <a:prstGeom prst="rect">
            <a:avLst/>
          </a:prstGeom>
        </p:spPr>
        <p:txBody>
          <a:bodyPr wrap="square" lIns="0" tIns="0" rIns="0" bIns="0" rtlCol="0" anchor="t">
            <a:spAutoFit/>
          </a:bodyPr>
          <a:lstStyle/>
          <a:p>
            <a:pPr algn="ctr">
              <a:lnSpc>
                <a:spcPts val="5520"/>
              </a:lnSpc>
              <a:spcBef>
                <a:spcPct val="0"/>
              </a:spcBef>
            </a:pPr>
            <a:r>
              <a:rPr lang="en-US" sz="4400" b="1" dirty="0" smtClean="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Existing System</a:t>
            </a:r>
            <a:endParaRPr lang="en-US" sz="44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5" name="TextBox 5"/>
          <p:cNvSpPr txBox="1"/>
          <p:nvPr/>
        </p:nvSpPr>
        <p:spPr>
          <a:xfrm>
            <a:off x="1771650" y="2019300"/>
            <a:ext cx="14573250" cy="8473440"/>
          </a:xfrm>
          <a:prstGeom prst="rect">
            <a:avLst/>
          </a:prstGeom>
        </p:spPr>
        <p:txBody>
          <a:bodyPr lIns="0" tIns="0" rIns="0" bIns="0" rtlCol="0" anchor="t">
            <a:noAutofit/>
          </a:bodyPr>
          <a:lstStyle/>
          <a:p>
            <a:pPr algn="l">
              <a:lnSpc>
                <a:spcPct val="150000"/>
              </a:lnSpc>
              <a:spcBef>
                <a:spcPct val="0"/>
              </a:spcBef>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Manual complaint registration (offline / paper-based)</a:t>
            </a:r>
          </a:p>
          <a:p>
            <a:pPr algn="l">
              <a:lnSpc>
                <a:spcPct val="150000"/>
              </a:lnSpc>
              <a:spcBef>
                <a:spcPct val="0"/>
              </a:spcBef>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No centralized grievance management system</a:t>
            </a:r>
          </a:p>
          <a:p>
            <a:pPr algn="l">
              <a:lnSpc>
                <a:spcPct val="150000"/>
              </a:lnSpc>
              <a:spcBef>
                <a:spcPct val="0"/>
              </a:spcBef>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Lack of transparency in complaint resolution</a:t>
            </a:r>
          </a:p>
          <a:p>
            <a:pPr algn="l">
              <a:lnSpc>
                <a:spcPct val="150000"/>
              </a:lnSpc>
              <a:spcBef>
                <a:spcPct val="0"/>
              </a:spcBef>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Passengers cannot track complaint status and  no structured feedback </a:t>
            </a:r>
          </a:p>
          <a:p>
            <a:pPr algn="l">
              <a:lnSpc>
                <a:spcPct val="100000"/>
              </a:lnSpc>
              <a:spcBef>
                <a:spcPct val="0"/>
              </a:spcBef>
            </a:pPr>
            <a:endParaRPr lang="en-US" sz="4400" b="1" u="sng"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ct val="100000"/>
              </a:lnSpc>
              <a:spcBef>
                <a:spcPct val="0"/>
              </a:spcBef>
            </a:pPr>
            <a:r>
              <a:rPr lang="en-US" sz="4400" b="1"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 Proposed </a:t>
            </a:r>
            <a:r>
              <a:rPr lang="en-US" sz="44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System</a:t>
            </a:r>
          </a:p>
          <a:p>
            <a:pPr algn="l">
              <a:lnSpc>
                <a:spcPct val="150000"/>
              </a:lnSpc>
              <a:spcBef>
                <a:spcPct val="0"/>
              </a:spcBef>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Digital grievance registration platform</a:t>
            </a:r>
          </a:p>
          <a:p>
            <a:pPr algn="l">
              <a:lnSpc>
                <a:spcPct val="150000"/>
              </a:lnSpc>
              <a:spcBef>
                <a:spcPct val="0"/>
              </a:spcBef>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Centralized complaint and feedback management system</a:t>
            </a:r>
          </a:p>
          <a:p>
            <a:pPr algn="l">
              <a:lnSpc>
                <a:spcPct val="150000"/>
              </a:lnSpc>
              <a:spcBef>
                <a:spcPct val="0"/>
              </a:spcBef>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Real-time grievance tracking for passengers</a:t>
            </a:r>
          </a:p>
          <a:p>
            <a:pPr algn="l">
              <a:lnSpc>
                <a:spcPct val="150000"/>
              </a:lnSpc>
              <a:spcBef>
                <a:spcPct val="0"/>
              </a:spcBef>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Role-based access for Admin and Passenger and structured feedbacks.</a:t>
            </a:r>
          </a:p>
          <a:p>
            <a:pPr algn="l">
              <a:lnSpc>
                <a:spcPct val="150000"/>
              </a:lnSpc>
              <a:spcBef>
                <a:spcPct val="0"/>
              </a:spcBef>
            </a:pPr>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3429282" y="876334"/>
            <a:ext cx="10058118" cy="807913"/>
          </a:xfrm>
          <a:prstGeom prst="rect">
            <a:avLst/>
          </a:prstGeom>
        </p:spPr>
        <p:txBody>
          <a:bodyPr wrap="square" lIns="0" tIns="0" rIns="0" bIns="0" rtlCol="0" anchor="t">
            <a:spAutoFit/>
          </a:bodyPr>
          <a:lstStyle/>
          <a:p>
            <a:pPr algn="ctr">
              <a:lnSpc>
                <a:spcPts val="6270"/>
              </a:lnSpc>
            </a:pPr>
            <a:r>
              <a:rPr lang="en-US" sz="48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Problem Statements</a:t>
            </a:r>
          </a:p>
        </p:txBody>
      </p:sp>
      <p:sp>
        <p:nvSpPr>
          <p:cNvPr id="4" name="TextBox 4"/>
          <p:cNvSpPr txBox="1"/>
          <p:nvPr/>
        </p:nvSpPr>
        <p:spPr>
          <a:xfrm>
            <a:off x="2353310" y="1943735"/>
            <a:ext cx="12550775" cy="5908040"/>
          </a:xfrm>
          <a:prstGeom prst="rect">
            <a:avLst/>
          </a:prstGeom>
        </p:spPr>
        <p:txBody>
          <a:bodyPr lIns="0" tIns="0" rIns="0" bIns="0" rtlCol="0" anchor="t">
            <a:noAutofit/>
          </a:bodyPr>
          <a:lstStyle/>
          <a:p>
            <a:pPr marL="748665" lvl="1" indent="-374650" algn="l">
              <a:lnSpc>
                <a:spcPct val="150000"/>
              </a:lnSpc>
              <a:buFont typeface="Arial" panose="020B0604020202020204"/>
              <a:buChar char="•"/>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Lack of centralized grievance management system</a:t>
            </a:r>
          </a:p>
          <a:p>
            <a:pPr marL="748665" lvl="1" indent="-374650" algn="l">
              <a:lnSpc>
                <a:spcPct val="150000"/>
              </a:lnSpc>
              <a:buFont typeface="Arial" panose="020B0604020202020204"/>
              <a:buChar char="•"/>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Manual and time-consuming complaint handling</a:t>
            </a:r>
          </a:p>
          <a:p>
            <a:pPr marL="748665" lvl="1" indent="-374650" algn="l">
              <a:lnSpc>
                <a:spcPct val="150000"/>
              </a:lnSpc>
              <a:buFont typeface="Arial" panose="020B0604020202020204"/>
              <a:buChar char="•"/>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No real-time tracking for passengers</a:t>
            </a:r>
          </a:p>
          <a:p>
            <a:pPr marL="748665" lvl="1" indent="-374650" algn="l">
              <a:lnSpc>
                <a:spcPct val="150000"/>
              </a:lnSpc>
              <a:buFont typeface="Arial" panose="020B0604020202020204"/>
              <a:buChar char="•"/>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Delayed resolution from authorities</a:t>
            </a:r>
          </a:p>
          <a:p>
            <a:pPr marL="748665" lvl="1" indent="-374650" algn="l">
              <a:lnSpc>
                <a:spcPct val="150000"/>
              </a:lnSpc>
              <a:buFont typeface="Arial" panose="020B0604020202020204"/>
              <a:buChar char="•"/>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Poor transparency in complaint processing</a:t>
            </a:r>
          </a:p>
          <a:p>
            <a:pPr marL="748665" lvl="1" indent="-374650" algn="l">
              <a:lnSpc>
                <a:spcPct val="150000"/>
              </a:lnSpc>
              <a:buFont typeface="Arial" panose="020B0604020202020204"/>
              <a:buChar char="•"/>
            </a:pPr>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Absence of structured feedback mechanism</a:t>
            </a:r>
          </a:p>
          <a:p>
            <a:pPr algn="l">
              <a:lnSpc>
                <a:spcPts val="5415"/>
              </a:lnSpc>
              <a:spcBef>
                <a:spcPct val="0"/>
              </a:spcBef>
            </a:pPr>
            <a:endParaRPr 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6" name="TextBox 6"/>
          <p:cNvSpPr txBox="1"/>
          <p:nvPr/>
        </p:nvSpPr>
        <p:spPr>
          <a:xfrm>
            <a:off x="16214256" y="9019603"/>
            <a:ext cx="1271574" cy="803430"/>
          </a:xfrm>
          <a:prstGeom prst="rect">
            <a:avLst/>
          </a:prstGeom>
        </p:spPr>
        <p:txBody>
          <a:bodyPr lIns="0" tIns="0" rIns="0" bIns="0" rtlCol="0" anchor="t">
            <a:spAutoFit/>
          </a:bodyPr>
          <a:lstStyle/>
          <a:p>
            <a:pPr algn="ctr">
              <a:lnSpc>
                <a:spcPts val="6640"/>
              </a:lnSpc>
              <a:spcBef>
                <a:spcPct val="0"/>
              </a:spcBef>
            </a:pPr>
            <a:r>
              <a:rPr lang="en-US" sz="4745" b="1">
                <a:solidFill>
                  <a:srgbClr val="545454"/>
                </a:solidFill>
                <a:latin typeface="Garet Bold"/>
                <a:ea typeface="Garet Bold"/>
                <a:cs typeface="Garet Bold"/>
                <a:sym typeface="Garet Bold"/>
              </a:rPr>
              <a:t>03</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260258" y="-768442"/>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TextBox 4"/>
          <p:cNvSpPr txBox="1"/>
          <p:nvPr/>
        </p:nvSpPr>
        <p:spPr>
          <a:xfrm>
            <a:off x="2934334" y="2318267"/>
            <a:ext cx="12514580" cy="6804025"/>
          </a:xfrm>
          <a:prstGeom prst="rect">
            <a:avLst/>
          </a:prstGeom>
        </p:spPr>
        <p:txBody>
          <a:bodyPr lIns="0" tIns="0" rIns="0" bIns="0" rtlCol="0" anchor="t">
            <a:noAutofit/>
          </a:bodyPr>
          <a:lstStyle/>
          <a:p>
            <a:pPr algn="l">
              <a:lnSpc>
                <a:spcPct val="100000"/>
              </a:lnSpc>
            </a:pPr>
            <a:endParaRPr lang="en-US" altLang="en-US" sz="36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Freeform 5"/>
          <p:cNvSpPr/>
          <p:nvPr/>
        </p:nvSpPr>
        <p:spPr>
          <a:xfrm rot="21025667">
            <a:off x="-446272" y="5696908"/>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6" name="TextBox 6"/>
          <p:cNvSpPr txBox="1"/>
          <p:nvPr/>
        </p:nvSpPr>
        <p:spPr>
          <a:xfrm>
            <a:off x="16366655" y="9217605"/>
            <a:ext cx="1271574" cy="803430"/>
          </a:xfrm>
          <a:prstGeom prst="rect">
            <a:avLst/>
          </a:prstGeom>
        </p:spPr>
        <p:txBody>
          <a:bodyPr lIns="0" tIns="0" rIns="0" bIns="0" rtlCol="0" anchor="t">
            <a:spAutoFit/>
          </a:bodyPr>
          <a:lstStyle/>
          <a:p>
            <a:pPr algn="ctr">
              <a:lnSpc>
                <a:spcPts val="6640"/>
              </a:lnSpc>
              <a:spcBef>
                <a:spcPct val="0"/>
              </a:spcBef>
            </a:pPr>
            <a:r>
              <a:rPr lang="en-US" sz="4745" b="1">
                <a:solidFill>
                  <a:srgbClr val="545454"/>
                </a:solidFill>
                <a:latin typeface="Garet Bold"/>
                <a:ea typeface="Garet Bold"/>
                <a:cs typeface="Garet Bold"/>
                <a:sym typeface="Garet Bold"/>
              </a:rPr>
              <a:t>04</a:t>
            </a:r>
          </a:p>
        </p:txBody>
      </p:sp>
      <p:sp>
        <p:nvSpPr>
          <p:cNvPr id="8" name="Rectangle 7"/>
          <p:cNvSpPr/>
          <p:nvPr/>
        </p:nvSpPr>
        <p:spPr>
          <a:xfrm>
            <a:off x="5181600" y="1104900"/>
            <a:ext cx="6781800" cy="733534"/>
          </a:xfrm>
          <a:prstGeom prst="rect">
            <a:avLst/>
          </a:prstGeom>
        </p:spPr>
        <p:txBody>
          <a:bodyPr wrap="square">
            <a:spAutoFit/>
          </a:bodyPr>
          <a:lstStyle/>
          <a:p>
            <a:pPr algn="ctr">
              <a:lnSpc>
                <a:spcPts val="5010"/>
              </a:lnSpc>
            </a:pPr>
            <a:r>
              <a:rPr lang="en-US" altLang="en-US" sz="48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Tools and Technologies</a:t>
            </a:r>
            <a:endParaRPr lang="en-US" sz="4800" b="1" dirty="0">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9" name="Rectangle 8"/>
          <p:cNvSpPr/>
          <p:nvPr/>
        </p:nvSpPr>
        <p:spPr>
          <a:xfrm>
            <a:off x="2934334" y="2318266"/>
            <a:ext cx="12686666" cy="6986528"/>
          </a:xfrm>
          <a:prstGeom prst="rect">
            <a:avLst/>
          </a:prstGeom>
        </p:spPr>
        <p:txBody>
          <a:bodyPr wrap="square">
            <a:spAutoFit/>
          </a:bodyPr>
          <a:lstStyle/>
          <a:p>
            <a:r>
              <a:rPr lang="en-US" altLang="en-US" sz="32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Frontend </a:t>
            </a:r>
            <a:r>
              <a:rPr lang="en-US" altLang="en-US" sz="3200" b="1"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Technologies                                        ORM Tool      </a:t>
            </a:r>
            <a:endParaRPr lang="en-US" altLang="en-US" sz="3200"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r>
              <a:rPr lang="en-US" altLang="en-US" sz="32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HTML                                                                    JPA(Java Persistence API)</a:t>
            </a:r>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r>
              <a:rPr lang="en-US" altLang="en-US" sz="32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CSS                                                                        Hibernate</a:t>
            </a:r>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React.js</a:t>
            </a:r>
          </a:p>
          <a:p>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JavaScript  </a:t>
            </a:r>
          </a:p>
          <a:p>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32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r>
              <a:rPr lang="en-US" altLang="en-US" sz="32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Backend </a:t>
            </a:r>
            <a:r>
              <a:rPr lang="en-US" altLang="en-US" sz="3200" b="1"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Technology                                            Development Tools</a:t>
            </a:r>
            <a:endParaRPr lang="en-US" altLang="en-US" sz="3200"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Spring Boot (Java Framework</a:t>
            </a:r>
            <a:r>
              <a:rPr lang="en-US" altLang="en-US" sz="32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                               VS Code/IntelliJ IDEA</a:t>
            </a:r>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RESTful </a:t>
            </a:r>
            <a:r>
              <a:rPr lang="en-US" altLang="en-US" sz="32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APIs                                                          Postman (API Testing)</a:t>
            </a:r>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r>
              <a:rPr lang="en-US" altLang="en-US" sz="32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3200" dirty="0" err="1"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Git</a:t>
            </a:r>
            <a:r>
              <a:rPr lang="en-US" altLang="en-US" sz="32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(Version Control)</a:t>
            </a:r>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r>
              <a:rPr lang="en-US" altLang="en-US" sz="32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Database</a:t>
            </a:r>
          </a:p>
          <a:p>
            <a:r>
              <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MySQL</a:t>
            </a:r>
          </a:p>
          <a:p>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endParaRPr lang="en-US" altLang="en-US" sz="32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Freeform 2"/>
          <p:cNvSpPr/>
          <p:nvPr/>
        </p:nvSpPr>
        <p:spPr>
          <a:xfrm rot="5400000">
            <a:off x="-107858" y="-1301842"/>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6" name="TextBox 4"/>
          <p:cNvSpPr txBox="1"/>
          <p:nvPr/>
        </p:nvSpPr>
        <p:spPr>
          <a:xfrm>
            <a:off x="3086734" y="1784867"/>
            <a:ext cx="12514580" cy="6804025"/>
          </a:xfrm>
          <a:prstGeom prst="rect">
            <a:avLst/>
          </a:prstGeom>
        </p:spPr>
        <p:txBody>
          <a:bodyPr lIns="0" tIns="0" rIns="0" bIns="0" rtlCol="0" anchor="t">
            <a:noAutofit/>
          </a:bodyPr>
          <a:lstStyle/>
          <a:p>
            <a:pPr algn="l">
              <a:lnSpc>
                <a:spcPct val="100000"/>
              </a:lnSpc>
            </a:pPr>
            <a:endParaRPr lang="en-US" altLang="en-US" sz="36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 name="Freeform 5"/>
          <p:cNvSpPr/>
          <p:nvPr/>
        </p:nvSpPr>
        <p:spPr>
          <a:xfrm rot="21025667">
            <a:off x="-293872" y="5163508"/>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TextBox 6"/>
          <p:cNvSpPr txBox="1"/>
          <p:nvPr/>
        </p:nvSpPr>
        <p:spPr>
          <a:xfrm>
            <a:off x="16519055" y="8684205"/>
            <a:ext cx="1271574" cy="803430"/>
          </a:xfrm>
          <a:prstGeom prst="rect">
            <a:avLst/>
          </a:prstGeom>
        </p:spPr>
        <p:txBody>
          <a:bodyPr lIns="0" tIns="0" rIns="0" bIns="0" rtlCol="0" anchor="t">
            <a:spAutoFit/>
          </a:bodyPr>
          <a:lstStyle/>
          <a:p>
            <a:pPr algn="ctr">
              <a:lnSpc>
                <a:spcPts val="6640"/>
              </a:lnSpc>
              <a:spcBef>
                <a:spcPct val="0"/>
              </a:spcBef>
            </a:pPr>
            <a:r>
              <a:rPr lang="en-US" sz="4745" b="1" dirty="0" smtClean="0">
                <a:solidFill>
                  <a:srgbClr val="545454"/>
                </a:solidFill>
                <a:latin typeface="Garet Bold"/>
                <a:ea typeface="Garet Bold"/>
                <a:cs typeface="Garet Bold"/>
                <a:sym typeface="Garet Bold"/>
              </a:rPr>
              <a:t>05</a:t>
            </a:r>
            <a:endParaRPr lang="en-US" sz="4745" b="1" dirty="0">
              <a:solidFill>
                <a:srgbClr val="545454"/>
              </a:solidFill>
              <a:latin typeface="Garet Bold"/>
              <a:ea typeface="Garet Bold"/>
              <a:cs typeface="Garet Bold"/>
              <a:sym typeface="Garet Bold"/>
            </a:endParaRPr>
          </a:p>
        </p:txBody>
      </p:sp>
      <p:pic>
        <p:nvPicPr>
          <p:cNvPr id="9" name="Picture 8"/>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bright="20000" contrast="-40000"/>
                    </a14:imgEffect>
                  </a14:imgLayer>
                </a14:imgProps>
              </a:ext>
            </a:extLst>
          </a:blip>
          <a:stretch>
            <a:fillRect/>
          </a:stretch>
        </p:blipFill>
        <p:spPr>
          <a:xfrm>
            <a:off x="3091240" y="2041419"/>
            <a:ext cx="11514254" cy="7676169"/>
          </a:xfrm>
          <a:prstGeom prst="rect">
            <a:avLst/>
          </a:prstGeom>
        </p:spPr>
      </p:pic>
      <p:sp>
        <p:nvSpPr>
          <p:cNvPr id="10" name="Rectangle 9"/>
          <p:cNvSpPr/>
          <p:nvPr/>
        </p:nvSpPr>
        <p:spPr>
          <a:xfrm>
            <a:off x="6971828" y="1022901"/>
            <a:ext cx="5035353" cy="830997"/>
          </a:xfrm>
          <a:prstGeom prst="rect">
            <a:avLst/>
          </a:prstGeom>
        </p:spPr>
        <p:txBody>
          <a:bodyPr wrap="none">
            <a:spAutoFit/>
          </a:bodyPr>
          <a:lstStyle/>
          <a:p>
            <a:r>
              <a:rPr lang="en-US" sz="4800" b="1" dirty="0" smtClean="0">
                <a:latin typeface="Times New Roman" panose="02020603050405020304" pitchFamily="18" charset="0"/>
                <a:cs typeface="Times New Roman" panose="02020603050405020304" pitchFamily="18" charset="0"/>
              </a:rPr>
              <a:t>Use Case Diagram</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48632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74718" y="457200"/>
            <a:ext cx="6583881" cy="1143000"/>
          </a:xfrm>
        </p:spPr>
        <p:txBody>
          <a:bodyPr/>
          <a:lstStyle/>
          <a:p>
            <a:r>
              <a:rPr lang="en-US" b="1" smtClean="0">
                <a:latin typeface="Times New Roman" panose="02020603050405020304" pitchFamily="18" charset="0"/>
                <a:cs typeface="Times New Roman" panose="02020603050405020304" pitchFamily="18" charset="0"/>
              </a:rPr>
              <a:t>Workflow Diagram</a:t>
            </a:r>
            <a:endParaRPr lang="en-US" b="1" dirty="0">
              <a:latin typeface="Times New Roman" panose="02020603050405020304" pitchFamily="18" charset="0"/>
              <a:cs typeface="Times New Roman" panose="02020603050405020304" pitchFamily="18" charset="0"/>
            </a:endParaRPr>
          </a:p>
        </p:txBody>
      </p:sp>
      <p:pic>
        <p:nvPicPr>
          <p:cNvPr id="8" name="Content Placeholder 7"/>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444678" y="1600200"/>
            <a:ext cx="6213922" cy="8115300"/>
          </a:xfrm>
        </p:spPr>
      </p:pic>
      <p:sp>
        <p:nvSpPr>
          <p:cNvPr id="4" name="Freeform 2"/>
          <p:cNvSpPr/>
          <p:nvPr/>
        </p:nvSpPr>
        <p:spPr>
          <a:xfrm rot="5400000">
            <a:off x="-233110" y="-704538"/>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US" dirty="0"/>
          </a:p>
        </p:txBody>
      </p:sp>
      <p:sp>
        <p:nvSpPr>
          <p:cNvPr id="5" name="TextBox 4"/>
          <p:cNvSpPr txBox="1"/>
          <p:nvPr/>
        </p:nvSpPr>
        <p:spPr>
          <a:xfrm>
            <a:off x="3086734" y="1784867"/>
            <a:ext cx="12514580" cy="6804025"/>
          </a:xfrm>
          <a:prstGeom prst="rect">
            <a:avLst/>
          </a:prstGeom>
        </p:spPr>
        <p:txBody>
          <a:bodyPr lIns="0" tIns="0" rIns="0" bIns="0" rtlCol="0" anchor="t">
            <a:noAutofit/>
          </a:bodyPr>
          <a:lstStyle/>
          <a:p>
            <a:pPr algn="l">
              <a:lnSpc>
                <a:spcPct val="100000"/>
              </a:lnSpc>
            </a:pPr>
            <a:endParaRPr lang="en-US" altLang="en-US" sz="36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Freeform 5"/>
          <p:cNvSpPr/>
          <p:nvPr/>
        </p:nvSpPr>
        <p:spPr>
          <a:xfrm rot="21025667">
            <a:off x="-293872" y="5163508"/>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7" name="TextBox 6"/>
          <p:cNvSpPr txBox="1"/>
          <p:nvPr/>
        </p:nvSpPr>
        <p:spPr>
          <a:xfrm>
            <a:off x="16519055" y="8684205"/>
            <a:ext cx="1271574" cy="803430"/>
          </a:xfrm>
          <a:prstGeom prst="rect">
            <a:avLst/>
          </a:prstGeom>
        </p:spPr>
        <p:txBody>
          <a:bodyPr lIns="0" tIns="0" rIns="0" bIns="0" rtlCol="0" anchor="t">
            <a:spAutoFit/>
          </a:bodyPr>
          <a:lstStyle/>
          <a:p>
            <a:pPr algn="ctr">
              <a:lnSpc>
                <a:spcPts val="6640"/>
              </a:lnSpc>
              <a:spcBef>
                <a:spcPct val="0"/>
              </a:spcBef>
            </a:pPr>
            <a:r>
              <a:rPr lang="en-US" sz="4745" b="1" dirty="0" smtClean="0">
                <a:solidFill>
                  <a:srgbClr val="545454"/>
                </a:solidFill>
                <a:latin typeface="Garet Bold"/>
                <a:ea typeface="Garet Bold"/>
                <a:cs typeface="Garet Bold"/>
                <a:sym typeface="Garet Bold"/>
              </a:rPr>
              <a:t>06</a:t>
            </a:r>
            <a:endParaRPr lang="en-US" sz="4745" b="1" dirty="0">
              <a:solidFill>
                <a:srgbClr val="545454"/>
              </a:solidFill>
              <a:latin typeface="Garet Bold"/>
              <a:ea typeface="Garet Bold"/>
              <a:cs typeface="Garet Bold"/>
              <a:sym typeface="Garet Bold"/>
            </a:endParaRPr>
          </a:p>
        </p:txBody>
      </p:sp>
    </p:spTree>
    <p:extLst>
      <p:ext uri="{BB962C8B-B14F-4D97-AF65-F5344CB8AC3E}">
        <p14:creationId xmlns:p14="http://schemas.microsoft.com/office/powerpoint/2010/main" val="4433397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24400" y="274638"/>
            <a:ext cx="8229600" cy="1143000"/>
          </a:xfrm>
        </p:spPr>
        <p:txBody>
          <a:bodyPr>
            <a:normAutofit/>
          </a:bodyPr>
          <a:lstStyle/>
          <a:p>
            <a:r>
              <a:rPr lang="en-US" sz="4800" b="1" dirty="0" smtClean="0">
                <a:latin typeface="Times New Roman" panose="02020603050405020304" pitchFamily="18" charset="0"/>
                <a:cs typeface="Times New Roman" panose="02020603050405020304" pitchFamily="18" charset="0"/>
              </a:rPr>
              <a:t>System Architecture Design</a:t>
            </a:r>
            <a:endParaRPr lang="en-US" sz="4800" b="1" dirty="0">
              <a:latin typeface="Times New Roman" panose="02020603050405020304" pitchFamily="18" charset="0"/>
              <a:cs typeface="Times New Roman" panose="02020603050405020304" pitchFamily="18" charset="0"/>
            </a:endParaRPr>
          </a:p>
        </p:txBody>
      </p:sp>
      <p:pic>
        <p:nvPicPr>
          <p:cNvPr id="8" name="Content Placeholder 7"/>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084386" y="1417638"/>
            <a:ext cx="7451297" cy="8637450"/>
          </a:xfrm>
        </p:spPr>
      </p:pic>
      <p:sp>
        <p:nvSpPr>
          <p:cNvPr id="4" name="Freeform 2"/>
          <p:cNvSpPr/>
          <p:nvPr/>
        </p:nvSpPr>
        <p:spPr>
          <a:xfrm rot="5400000">
            <a:off x="-107858" y="-1301842"/>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TextBox 4"/>
          <p:cNvSpPr txBox="1"/>
          <p:nvPr/>
        </p:nvSpPr>
        <p:spPr>
          <a:xfrm>
            <a:off x="3086734" y="1784867"/>
            <a:ext cx="12514580" cy="6804025"/>
          </a:xfrm>
          <a:prstGeom prst="rect">
            <a:avLst/>
          </a:prstGeom>
        </p:spPr>
        <p:txBody>
          <a:bodyPr lIns="0" tIns="0" rIns="0" bIns="0" rtlCol="0" anchor="t">
            <a:noAutofit/>
          </a:bodyPr>
          <a:lstStyle/>
          <a:p>
            <a:pPr algn="l">
              <a:lnSpc>
                <a:spcPct val="100000"/>
              </a:lnSpc>
            </a:pPr>
            <a:endParaRPr lang="en-US" altLang="en-US" sz="36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Freeform 5"/>
          <p:cNvSpPr/>
          <p:nvPr/>
        </p:nvSpPr>
        <p:spPr>
          <a:xfrm rot="21025667">
            <a:off x="-293872" y="5163508"/>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7" name="TextBox 6"/>
          <p:cNvSpPr txBox="1"/>
          <p:nvPr/>
        </p:nvSpPr>
        <p:spPr>
          <a:xfrm>
            <a:off x="16519055" y="8684205"/>
            <a:ext cx="1271574" cy="803430"/>
          </a:xfrm>
          <a:prstGeom prst="rect">
            <a:avLst/>
          </a:prstGeom>
        </p:spPr>
        <p:txBody>
          <a:bodyPr lIns="0" tIns="0" rIns="0" bIns="0" rtlCol="0" anchor="t">
            <a:spAutoFit/>
          </a:bodyPr>
          <a:lstStyle/>
          <a:p>
            <a:pPr algn="ctr">
              <a:lnSpc>
                <a:spcPts val="6640"/>
              </a:lnSpc>
              <a:spcBef>
                <a:spcPct val="0"/>
              </a:spcBef>
            </a:pPr>
            <a:r>
              <a:rPr lang="en-US" sz="4745" b="1" dirty="0" smtClean="0">
                <a:solidFill>
                  <a:srgbClr val="545454"/>
                </a:solidFill>
                <a:latin typeface="Garet Bold"/>
                <a:ea typeface="Garet Bold"/>
                <a:cs typeface="Garet Bold"/>
                <a:sym typeface="Garet Bold"/>
              </a:rPr>
              <a:t>07</a:t>
            </a:r>
            <a:endParaRPr lang="en-US" sz="4745" b="1" dirty="0">
              <a:solidFill>
                <a:srgbClr val="545454"/>
              </a:solidFill>
              <a:latin typeface="Garet Bold"/>
              <a:ea typeface="Garet Bold"/>
              <a:cs typeface="Garet Bold"/>
              <a:sym typeface="Garet Bold"/>
            </a:endParaRPr>
          </a:p>
        </p:txBody>
      </p:sp>
    </p:spTree>
    <p:extLst>
      <p:ext uri="{BB962C8B-B14F-4D97-AF65-F5344CB8AC3E}">
        <p14:creationId xmlns:p14="http://schemas.microsoft.com/office/powerpoint/2010/main" val="31808694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19400" y="1213367"/>
            <a:ext cx="12039600" cy="1143000"/>
          </a:xfrm>
        </p:spPr>
        <p:txBody>
          <a:bodyPr>
            <a:normAutofit/>
          </a:bodyPr>
          <a:lstStyle/>
          <a:p>
            <a:r>
              <a:rPr lang="en-US" sz="4800" b="1" dirty="0" smtClean="0">
                <a:latin typeface="Times New Roman" panose="02020603050405020304" pitchFamily="18" charset="0"/>
                <a:cs typeface="Times New Roman" panose="02020603050405020304" pitchFamily="18" charset="0"/>
              </a:rPr>
              <a:t>Benefits                                   Challenges</a:t>
            </a:r>
            <a:endParaRPr lang="en-US" sz="4800" b="1" dirty="0">
              <a:latin typeface="Times New Roman" panose="02020603050405020304" pitchFamily="18" charset="0"/>
              <a:cs typeface="Times New Roman" panose="02020603050405020304" pitchFamily="18" charset="0"/>
            </a:endParaRPr>
          </a:p>
        </p:txBody>
      </p:sp>
      <p:sp>
        <p:nvSpPr>
          <p:cNvPr id="4" name="Freeform 2"/>
          <p:cNvSpPr/>
          <p:nvPr/>
        </p:nvSpPr>
        <p:spPr>
          <a:xfrm rot="5400000">
            <a:off x="-1522765" y="-991211"/>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TextBox 4"/>
          <p:cNvSpPr txBox="1"/>
          <p:nvPr/>
        </p:nvSpPr>
        <p:spPr>
          <a:xfrm>
            <a:off x="3086734" y="1784867"/>
            <a:ext cx="12514580" cy="6804025"/>
          </a:xfrm>
          <a:prstGeom prst="rect">
            <a:avLst/>
          </a:prstGeom>
        </p:spPr>
        <p:txBody>
          <a:bodyPr lIns="0" tIns="0" rIns="0" bIns="0" rtlCol="0" anchor="t">
            <a:noAutofit/>
          </a:bodyPr>
          <a:lstStyle/>
          <a:p>
            <a:pPr algn="l">
              <a:lnSpc>
                <a:spcPct val="100000"/>
              </a:lnSpc>
            </a:pPr>
            <a:endParaRPr lang="en-US" altLang="en-US" sz="36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Freeform 5"/>
          <p:cNvSpPr/>
          <p:nvPr/>
        </p:nvSpPr>
        <p:spPr>
          <a:xfrm rot="21025667">
            <a:off x="-293872" y="5163508"/>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TextBox 6"/>
          <p:cNvSpPr txBox="1"/>
          <p:nvPr/>
        </p:nvSpPr>
        <p:spPr>
          <a:xfrm>
            <a:off x="16519055" y="8684205"/>
            <a:ext cx="1271574" cy="803430"/>
          </a:xfrm>
          <a:prstGeom prst="rect">
            <a:avLst/>
          </a:prstGeom>
        </p:spPr>
        <p:txBody>
          <a:bodyPr lIns="0" tIns="0" rIns="0" bIns="0" rtlCol="0" anchor="t">
            <a:spAutoFit/>
          </a:bodyPr>
          <a:lstStyle/>
          <a:p>
            <a:pPr algn="ctr">
              <a:lnSpc>
                <a:spcPts val="6640"/>
              </a:lnSpc>
              <a:spcBef>
                <a:spcPct val="0"/>
              </a:spcBef>
            </a:pPr>
            <a:r>
              <a:rPr lang="en-US" sz="4745" b="1" dirty="0" smtClean="0">
                <a:solidFill>
                  <a:srgbClr val="545454"/>
                </a:solidFill>
                <a:latin typeface="Garet Bold"/>
                <a:ea typeface="Garet Bold"/>
                <a:cs typeface="Garet Bold"/>
                <a:sym typeface="Garet Bold"/>
              </a:rPr>
              <a:t>08</a:t>
            </a:r>
            <a:endParaRPr lang="en-US" sz="4745" b="1" dirty="0">
              <a:solidFill>
                <a:srgbClr val="545454"/>
              </a:solidFill>
              <a:latin typeface="Garet Bold"/>
              <a:ea typeface="Garet Bold"/>
              <a:cs typeface="Garet Bold"/>
              <a:sym typeface="Garet Bold"/>
            </a:endParaRPr>
          </a:p>
        </p:txBody>
      </p:sp>
      <p:sp>
        <p:nvSpPr>
          <p:cNvPr id="8" name="Rectangle 1"/>
          <p:cNvSpPr>
            <a:spLocks noGrp="1" noChangeArrowheads="1"/>
          </p:cNvSpPr>
          <p:nvPr>
            <p:ph idx="1"/>
          </p:nvPr>
        </p:nvSpPr>
        <p:spPr bwMode="auto">
          <a:xfrm>
            <a:off x="2514600" y="2400317"/>
            <a:ext cx="15276029"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None/>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Faster complaint resolution                                 </a:t>
            </a:r>
            <a:r>
              <a:rPr lang="en-US" dirty="0" smtClean="0">
                <a:latin typeface="Times New Roman" panose="02020603050405020304" pitchFamily="18" charset="0"/>
                <a:cs typeface="Times New Roman" panose="02020603050405020304" pitchFamily="18" charset="0"/>
              </a:rPr>
              <a:t>Handling </a:t>
            </a:r>
            <a:r>
              <a:rPr lang="en-US" dirty="0">
                <a:latin typeface="Times New Roman" panose="02020603050405020304" pitchFamily="18" charset="0"/>
                <a:cs typeface="Times New Roman" panose="02020603050405020304" pitchFamily="18" charset="0"/>
              </a:rPr>
              <a:t>multiple users at the </a:t>
            </a:r>
            <a:r>
              <a:rPr lang="en-US" dirty="0" smtClean="0">
                <a:latin typeface="Times New Roman" panose="02020603050405020304" pitchFamily="18" charset="0"/>
                <a:cs typeface="Times New Roman" panose="02020603050405020304" pitchFamily="18" charset="0"/>
              </a:rPr>
              <a:t>same time</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Real-time status tracking                                     </a:t>
            </a:r>
            <a:r>
              <a:rPr lang="en-US" dirty="0">
                <a:latin typeface="Times New Roman" panose="02020603050405020304" pitchFamily="18" charset="0"/>
                <a:cs typeface="Times New Roman" panose="02020603050405020304" pitchFamily="18" charset="0"/>
              </a:rPr>
              <a:t>Managing server performance under load</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Improved transparency                                        </a:t>
            </a:r>
            <a:r>
              <a:rPr lang="en-US" dirty="0">
                <a:latin typeface="Times New Roman" panose="02020603050405020304" pitchFamily="18" charset="0"/>
                <a:cs typeface="Times New Roman" panose="02020603050405020304" pitchFamily="18" charset="0"/>
              </a:rPr>
              <a:t>Handling network </a:t>
            </a:r>
            <a:r>
              <a:rPr lang="en-US" dirty="0" smtClean="0">
                <a:latin typeface="Times New Roman" panose="02020603050405020304" pitchFamily="18" charset="0"/>
                <a:cs typeface="Times New Roman" panose="02020603050405020304" pitchFamily="18" charset="0"/>
              </a:rPr>
              <a:t>or  </a:t>
            </a:r>
            <a:r>
              <a:rPr lang="en-US" dirty="0">
                <a:latin typeface="Times New Roman" panose="02020603050405020304" pitchFamily="18" charset="0"/>
                <a:cs typeface="Times New Roman" panose="02020603050405020304" pitchFamily="18" charset="0"/>
              </a:rPr>
              <a:t>internet issues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Centralized data management                              </a:t>
            </a:r>
            <a:r>
              <a:rPr lang="en-US" dirty="0">
                <a:latin typeface="Times New Roman" panose="02020603050405020304" pitchFamily="18" charset="0"/>
                <a:cs typeface="Times New Roman" panose="02020603050405020304" pitchFamily="18" charset="0"/>
              </a:rPr>
              <a:t>Implementing secure </a:t>
            </a:r>
            <a:r>
              <a:rPr lang="en-US" dirty="0" smtClean="0">
                <a:latin typeface="Times New Roman" panose="02020603050405020304" pitchFamily="18" charset="0"/>
                <a:cs typeface="Times New Roman" panose="02020603050405020304" pitchFamily="18" charset="0"/>
              </a:rPr>
              <a:t>authentication</a:t>
            </a:r>
          </a:p>
          <a:p>
            <a:pPr marL="0" lvl="0" indent="0" eaLnBrk="0" fontAlgn="base" hangingPunct="0">
              <a:lnSpc>
                <a:spcPct val="150000"/>
              </a:lnSpc>
              <a:spcBef>
                <a:spcPct val="0"/>
              </a:spcBef>
              <a:spcAft>
                <a:spcPct val="0"/>
              </a:spcAft>
              <a:buNone/>
            </a:pPr>
            <a:r>
              <a:rPr lang="en-US" dirty="0">
                <a:latin typeface="Times New Roman" panose="02020603050405020304" pitchFamily="18" charset="0"/>
                <a:cs typeface="Times New Roman" panose="02020603050405020304" pitchFamily="18" charset="0"/>
              </a:rPr>
              <a:t>Quick feedback </a:t>
            </a:r>
            <a:r>
              <a:rPr lang="en-US" dirty="0" smtClean="0">
                <a:latin typeface="Times New Roman" panose="02020603050405020304" pitchFamily="18" charset="0"/>
                <a:cs typeface="Times New Roman" panose="02020603050405020304" pitchFamily="18" charset="0"/>
              </a:rPr>
              <a:t>collection</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Ensuring instant data synchronization</a:t>
            </a: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38437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8138" y="845097"/>
            <a:ext cx="8229600" cy="1143000"/>
          </a:xfrm>
        </p:spPr>
        <p:txBody>
          <a:bodyPr/>
          <a:lstStyle/>
          <a:p>
            <a:r>
              <a:rPr lang="en-US" sz="4800" b="1" dirty="0" smtClean="0">
                <a:latin typeface="Times New Roman" panose="02020603050405020304" pitchFamily="18" charset="0"/>
                <a:cs typeface="Times New Roman" panose="02020603050405020304" pitchFamily="18" charset="0"/>
              </a:rPr>
              <a:t>Modules</a:t>
            </a:r>
            <a:endParaRPr lang="en-US"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13484" y="2574357"/>
            <a:ext cx="13639800" cy="6222221"/>
          </a:xfrm>
        </p:spPr>
        <p:txBody>
          <a:bodyPr/>
          <a:lstStyle/>
          <a:p>
            <a:pPr>
              <a:lnSpc>
                <a:spcPct val="150000"/>
              </a:lnSpc>
            </a:pPr>
            <a:r>
              <a:rPr lang="en-US" dirty="0">
                <a:latin typeface="Times New Roman" panose="02020603050405020304" pitchFamily="18" charset="0"/>
                <a:cs typeface="Times New Roman" panose="02020603050405020304" pitchFamily="18" charset="0"/>
              </a:rPr>
              <a:t>Authentication Module</a:t>
            </a:r>
          </a:p>
          <a:p>
            <a:pPr>
              <a:lnSpc>
                <a:spcPct val="150000"/>
              </a:lnSpc>
            </a:pPr>
            <a:r>
              <a:rPr lang="en-US" dirty="0">
                <a:latin typeface="Times New Roman" panose="02020603050405020304" pitchFamily="18" charset="0"/>
                <a:cs typeface="Times New Roman" panose="02020603050405020304" pitchFamily="18" charset="0"/>
              </a:rPr>
              <a:t>Complaint Management Module</a:t>
            </a:r>
          </a:p>
          <a:p>
            <a:pPr>
              <a:lnSpc>
                <a:spcPct val="150000"/>
              </a:lnSpc>
            </a:pPr>
            <a:r>
              <a:rPr lang="en-US" dirty="0">
                <a:latin typeface="Times New Roman" panose="02020603050405020304" pitchFamily="18" charset="0"/>
                <a:cs typeface="Times New Roman" panose="02020603050405020304" pitchFamily="18" charset="0"/>
              </a:rPr>
              <a:t>Admin Management Module</a:t>
            </a:r>
          </a:p>
          <a:p>
            <a:pPr>
              <a:lnSpc>
                <a:spcPct val="150000"/>
              </a:lnSpc>
            </a:pPr>
            <a:r>
              <a:rPr lang="en-US" dirty="0">
                <a:latin typeface="Times New Roman" panose="02020603050405020304" pitchFamily="18" charset="0"/>
                <a:cs typeface="Times New Roman" panose="02020603050405020304" pitchFamily="18" charset="0"/>
              </a:rPr>
              <a:t>Feedback Management </a:t>
            </a:r>
            <a:r>
              <a:rPr lang="en-US" dirty="0" smtClean="0">
                <a:latin typeface="Times New Roman" panose="02020603050405020304" pitchFamily="18" charset="0"/>
                <a:cs typeface="Times New Roman" panose="02020603050405020304" pitchFamily="18" charset="0"/>
              </a:rPr>
              <a:t>Module</a:t>
            </a:r>
          </a:p>
          <a:p>
            <a:pPr>
              <a:lnSpc>
                <a:spcPct val="150000"/>
              </a:lnSpc>
            </a:pPr>
            <a:r>
              <a:rPr lang="en-US" dirty="0" smtClean="0">
                <a:latin typeface="Times New Roman" panose="02020603050405020304" pitchFamily="18" charset="0"/>
                <a:cs typeface="Times New Roman" panose="02020603050405020304" pitchFamily="18" charset="0"/>
              </a:rPr>
              <a:t>Reporting </a:t>
            </a:r>
            <a:r>
              <a:rPr lang="en-US" dirty="0">
                <a:latin typeface="Times New Roman" panose="02020603050405020304" pitchFamily="18" charset="0"/>
                <a:cs typeface="Times New Roman" panose="02020603050405020304" pitchFamily="18" charset="0"/>
              </a:rPr>
              <a:t>&amp; Analytics Module</a:t>
            </a:r>
          </a:p>
        </p:txBody>
      </p:sp>
      <p:sp>
        <p:nvSpPr>
          <p:cNvPr id="5" name="Freeform 2"/>
          <p:cNvSpPr/>
          <p:nvPr/>
        </p:nvSpPr>
        <p:spPr>
          <a:xfrm rot="5400000">
            <a:off x="218108" y="-571709"/>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6" name="TextBox 5"/>
          <p:cNvSpPr txBox="1"/>
          <p:nvPr/>
        </p:nvSpPr>
        <p:spPr>
          <a:xfrm>
            <a:off x="3086734" y="1784867"/>
            <a:ext cx="12514580" cy="6804025"/>
          </a:xfrm>
          <a:prstGeom prst="rect">
            <a:avLst/>
          </a:prstGeom>
        </p:spPr>
        <p:txBody>
          <a:bodyPr lIns="0" tIns="0" rIns="0" bIns="0" rtlCol="0" anchor="t">
            <a:noAutofit/>
          </a:bodyPr>
          <a:lstStyle/>
          <a:p>
            <a:pPr algn="l">
              <a:lnSpc>
                <a:spcPct val="100000"/>
              </a:lnSpc>
            </a:pPr>
            <a:endParaRPr lang="en-US" altLang="en-US" sz="36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 name="Freeform 6"/>
          <p:cNvSpPr/>
          <p:nvPr/>
        </p:nvSpPr>
        <p:spPr>
          <a:xfrm rot="21025667">
            <a:off x="-293872" y="5163508"/>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TextBox 7"/>
          <p:cNvSpPr txBox="1"/>
          <p:nvPr/>
        </p:nvSpPr>
        <p:spPr>
          <a:xfrm>
            <a:off x="16519055" y="8684205"/>
            <a:ext cx="1271574" cy="803430"/>
          </a:xfrm>
          <a:prstGeom prst="rect">
            <a:avLst/>
          </a:prstGeom>
        </p:spPr>
        <p:txBody>
          <a:bodyPr lIns="0" tIns="0" rIns="0" bIns="0" rtlCol="0" anchor="t">
            <a:spAutoFit/>
          </a:bodyPr>
          <a:lstStyle/>
          <a:p>
            <a:pPr algn="ctr">
              <a:lnSpc>
                <a:spcPts val="6640"/>
              </a:lnSpc>
              <a:spcBef>
                <a:spcPct val="0"/>
              </a:spcBef>
            </a:pPr>
            <a:r>
              <a:rPr lang="en-US" sz="4745" b="1" dirty="0" smtClean="0">
                <a:solidFill>
                  <a:srgbClr val="545454"/>
                </a:solidFill>
                <a:latin typeface="Garet Bold"/>
                <a:ea typeface="Garet Bold"/>
                <a:cs typeface="Garet Bold"/>
                <a:sym typeface="Garet Bold"/>
              </a:rPr>
              <a:t>09</a:t>
            </a:r>
            <a:endParaRPr lang="en-US" sz="4745" b="1" dirty="0">
              <a:solidFill>
                <a:srgbClr val="545454"/>
              </a:solidFill>
              <a:latin typeface="Garet Bold"/>
              <a:ea typeface="Garet Bold"/>
              <a:cs typeface="Garet Bold"/>
              <a:sym typeface="Garet Bold"/>
            </a:endParaRPr>
          </a:p>
        </p:txBody>
      </p:sp>
    </p:spTree>
    <p:extLst>
      <p:ext uri="{BB962C8B-B14F-4D97-AF65-F5344CB8AC3E}">
        <p14:creationId xmlns:p14="http://schemas.microsoft.com/office/powerpoint/2010/main" val="19821185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86733" y="785463"/>
            <a:ext cx="8229600" cy="1143000"/>
          </a:xfrm>
        </p:spPr>
        <p:txBody>
          <a:bodyPr/>
          <a:lstStyle/>
          <a:p>
            <a:r>
              <a:rPr lang="en-US" b="1" dirty="0">
                <a:latin typeface="Times New Roman" panose="02020603050405020304" pitchFamily="18" charset="0"/>
                <a:cs typeface="Times New Roman" panose="02020603050405020304" pitchFamily="18" charset="0"/>
              </a:rPr>
              <a:t>Current Implementation Status</a:t>
            </a:r>
          </a:p>
        </p:txBody>
      </p:sp>
      <p:sp>
        <p:nvSpPr>
          <p:cNvPr id="4" name="Freeform 2"/>
          <p:cNvSpPr/>
          <p:nvPr/>
        </p:nvSpPr>
        <p:spPr>
          <a:xfrm rot="5400000">
            <a:off x="-1497731" y="-1163761"/>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TextBox 4"/>
          <p:cNvSpPr txBox="1"/>
          <p:nvPr/>
        </p:nvSpPr>
        <p:spPr>
          <a:xfrm>
            <a:off x="3086734" y="1784867"/>
            <a:ext cx="12514580" cy="6804025"/>
          </a:xfrm>
          <a:prstGeom prst="rect">
            <a:avLst/>
          </a:prstGeom>
        </p:spPr>
        <p:txBody>
          <a:bodyPr lIns="0" tIns="0" rIns="0" bIns="0" rtlCol="0" anchor="t">
            <a:noAutofit/>
          </a:bodyPr>
          <a:lstStyle/>
          <a:p>
            <a:pPr algn="l">
              <a:lnSpc>
                <a:spcPct val="100000"/>
              </a:lnSpc>
            </a:pPr>
            <a:endParaRPr lang="en-US" altLang="en-US" sz="36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Freeform 5"/>
          <p:cNvSpPr/>
          <p:nvPr/>
        </p:nvSpPr>
        <p:spPr>
          <a:xfrm rot="21025667">
            <a:off x="-293872" y="5163508"/>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7" name="TextBox 6"/>
          <p:cNvSpPr txBox="1"/>
          <p:nvPr/>
        </p:nvSpPr>
        <p:spPr>
          <a:xfrm>
            <a:off x="16519055" y="8684205"/>
            <a:ext cx="1271574" cy="803430"/>
          </a:xfrm>
          <a:prstGeom prst="rect">
            <a:avLst/>
          </a:prstGeom>
        </p:spPr>
        <p:txBody>
          <a:bodyPr lIns="0" tIns="0" rIns="0" bIns="0" rtlCol="0" anchor="t">
            <a:spAutoFit/>
          </a:bodyPr>
          <a:lstStyle/>
          <a:p>
            <a:pPr algn="ctr">
              <a:lnSpc>
                <a:spcPts val="6640"/>
              </a:lnSpc>
              <a:spcBef>
                <a:spcPct val="0"/>
              </a:spcBef>
            </a:pPr>
            <a:r>
              <a:rPr lang="en-US" sz="4745" b="1" dirty="0" smtClean="0">
                <a:solidFill>
                  <a:srgbClr val="545454"/>
                </a:solidFill>
                <a:latin typeface="Garet Bold"/>
                <a:ea typeface="Garet Bold"/>
                <a:cs typeface="Garet Bold"/>
                <a:sym typeface="Garet Bold"/>
              </a:rPr>
              <a:t>10</a:t>
            </a:r>
            <a:endParaRPr lang="en-US" sz="4745" b="1" dirty="0">
              <a:solidFill>
                <a:srgbClr val="545454"/>
              </a:solidFill>
              <a:latin typeface="Garet Bold"/>
              <a:ea typeface="Garet Bold"/>
              <a:cs typeface="Garet Bold"/>
              <a:sym typeface="Garet Bold"/>
            </a:endParaRPr>
          </a:p>
        </p:txBody>
      </p:sp>
      <p:sp>
        <p:nvSpPr>
          <p:cNvPr id="8" name="Rectangle 1"/>
          <p:cNvSpPr>
            <a:spLocks noGrp="1" noChangeArrowheads="1"/>
          </p:cNvSpPr>
          <p:nvPr>
            <p:ph idx="1"/>
          </p:nvPr>
        </p:nvSpPr>
        <p:spPr bwMode="auto">
          <a:xfrm>
            <a:off x="2666999" y="1928463"/>
            <a:ext cx="13852055" cy="7755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Login module completed</a:t>
            </a:r>
          </a:p>
          <a:p>
            <a:pPr eaLnBrk="0" fontAlgn="base" hangingPunct="0">
              <a:lnSpc>
                <a:spcPct val="150000"/>
              </a:lnSpc>
              <a:spcBef>
                <a:spcPct val="0"/>
              </a:spcBef>
              <a:spcAft>
                <a:spcPct val="0"/>
              </a:spcAf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Complaint registration completed</a:t>
            </a:r>
          </a:p>
          <a:p>
            <a:pPr eaLnBrk="0" fontAlgn="base" hangingPunct="0">
              <a:lnSpc>
                <a:spcPct val="150000"/>
              </a:lnSpc>
              <a:spcBef>
                <a:spcPct val="0"/>
              </a:spcBef>
              <a:spcAft>
                <a:spcPct val="0"/>
              </a:spcAf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Database integration done</a:t>
            </a:r>
          </a:p>
          <a:p>
            <a:pPr eaLnBrk="0" fontAlgn="base" hangingPunct="0">
              <a:lnSpc>
                <a:spcPct val="150000"/>
              </a:lnSpc>
              <a:spcBef>
                <a:spcPct val="0"/>
              </a:spcBef>
              <a:spcAft>
                <a:spcPct val="0"/>
              </a:spcAf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Admin module in progress</a:t>
            </a:r>
          </a:p>
          <a:p>
            <a:pPr eaLnBrk="0" fontAlgn="base" hangingPunct="0">
              <a:lnSpc>
                <a:spcPct val="150000"/>
              </a:lnSpc>
              <a:spcBef>
                <a:spcPct val="0"/>
              </a:spcBef>
              <a:spcAft>
                <a:spcPct val="0"/>
              </a:spcAf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4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Future Enhancement</a:t>
            </a:r>
          </a:p>
          <a:p>
            <a:pPr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AI-based complaint </a:t>
            </a:r>
            <a:r>
              <a:rPr lang="en-US" dirty="0" smtClean="0">
                <a:latin typeface="Times New Roman" panose="02020603050405020304" pitchFamily="18" charset="0"/>
                <a:cs typeface="Times New Roman" panose="02020603050405020304" pitchFamily="18" charset="0"/>
              </a:rPr>
              <a:t>classification</a:t>
            </a:r>
          </a:p>
          <a:p>
            <a:pPr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Email/SMS </a:t>
            </a:r>
            <a:r>
              <a:rPr lang="en-US" dirty="0" smtClean="0">
                <a:latin typeface="Times New Roman" panose="02020603050405020304" pitchFamily="18" charset="0"/>
                <a:cs typeface="Times New Roman" panose="02020603050405020304" pitchFamily="18" charset="0"/>
              </a:rPr>
              <a:t>notification</a:t>
            </a:r>
          </a:p>
          <a:p>
            <a:pPr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Analytics dashboard</a:t>
            </a:r>
            <a:endParaRPr lang="en-US" dirty="0" smtClean="0">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42581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19600" y="4152900"/>
            <a:ext cx="8229600" cy="1143000"/>
          </a:xfrm>
        </p:spPr>
        <p:txBody>
          <a:bodyPr>
            <a:normAutofit/>
          </a:bodyPr>
          <a:lstStyle/>
          <a:p>
            <a:r>
              <a:rPr lang="en-US" sz="4800" b="1" dirty="0" smtClean="0">
                <a:latin typeface="Times New Roman" panose="02020603050405020304" pitchFamily="18" charset="0"/>
                <a:cs typeface="Times New Roman" panose="02020603050405020304" pitchFamily="18" charset="0"/>
              </a:rPr>
              <a:t>THANK YOU</a:t>
            </a:r>
            <a:endParaRPr lang="en-US" sz="4800" b="1" dirty="0">
              <a:latin typeface="Times New Roman" panose="02020603050405020304" pitchFamily="18" charset="0"/>
              <a:cs typeface="Times New Roman" panose="02020603050405020304" pitchFamily="18" charset="0"/>
            </a:endParaRPr>
          </a:p>
        </p:txBody>
      </p:sp>
      <p:sp>
        <p:nvSpPr>
          <p:cNvPr id="3" name="Freeform 2"/>
          <p:cNvSpPr/>
          <p:nvPr/>
        </p:nvSpPr>
        <p:spPr>
          <a:xfrm rot="5400000">
            <a:off x="-1174657" y="-768442"/>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3"/>
          <p:cNvSpPr/>
          <p:nvPr/>
        </p:nvSpPr>
        <p:spPr>
          <a:xfrm rot="21025667">
            <a:off x="-81380" y="5614145"/>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Tree>
    <p:extLst>
      <p:ext uri="{BB962C8B-B14F-4D97-AF65-F5344CB8AC3E}">
        <p14:creationId xmlns:p14="http://schemas.microsoft.com/office/powerpoint/2010/main" val="37913368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322</Words>
  <Application>Microsoft Office PowerPoint</Application>
  <PresentationFormat>Custom</PresentationFormat>
  <Paragraphs>77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Garet Bold</vt:lpstr>
      <vt:lpstr>Times New Roman</vt:lpstr>
      <vt:lpstr>Arial</vt:lpstr>
      <vt:lpstr>Times New Roman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Workflow Diagram</vt:lpstr>
      <vt:lpstr>System Architecture Design</vt:lpstr>
      <vt:lpstr>Benefits                                   Challenges</vt:lpstr>
      <vt:lpstr>Modules</vt:lpstr>
      <vt:lpstr>Current Implementation Status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UNIQUE FEATURES</dc:title>
  <dc:creator>tanoor kiran</dc:creator>
  <cp:lastModifiedBy>Admin</cp:lastModifiedBy>
  <cp:revision>17</cp:revision>
  <dcterms:created xsi:type="dcterms:W3CDTF">2006-08-16T00:00:00Z</dcterms:created>
  <dcterms:modified xsi:type="dcterms:W3CDTF">2026-02-14T13:55:16Z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CBB17EE0EA0A494C800831C4B5F8F319_13</vt:lpwstr>
  </property>
  <property fmtid="{D5CDD505-2E9C-101B-9397-08002B2CF9AE}" pid="3" name="KSOProductBuildVer">
    <vt:lpwstr>1033-12.2.0.23196</vt:lpwstr>
  </property>
</Properties>
</file>